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assets/hero_dec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02920"/>
            <a:ext cx="539496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AJEENKYA D Y PATIL UNIVERSITY, PUNE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 ·   Dept. of Computer Science &amp; Engineering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2331720"/>
            <a:ext cx="6858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Vendor360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Zero-Logistics B2B Mediator for India’s Local Vendors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4041648"/>
            <a:ext cx="3429000" cy="347472"/>
          </a:xfrm>
          <a:prstGeom prst="roundRect">
            <a:avLst>
              <a:gd name="adj" fmla="val 50000"/>
            </a:avLst>
          </a:prstGeom>
          <a:solidFill>
            <a:srgbClr val="4A2B5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041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TRACK · MINI-PROJECT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3949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 |   [Student Name 2]   |   [Student Name 3]   |   [Student Name 4]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     |   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4" name="Image 0" descr="/tmp/build/assets/icons/Fi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8" name="Image 1" descr="/tmp/build/assets/icons/Fi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099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72768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2" name="Image 2" descr="/tmp/build/assets/icons/Fi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9631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72768" y="23865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6" name="Image 3" descr="/tmp/build/assets/icons/Fi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8269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72768" y="3172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Motivation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0" name="Image 4" descr="/tmp/build/assets/icons/Fi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6908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572768" y="3959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40080" y="4745736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4" name="Image 5" descr="/tmp/build/assets/icons/Fi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855464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70432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1572768" y="47457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8" name="Image 6" descr="/tmp/build/assets/icons/FiCp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641848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70432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572768" y="5532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Requirements</a:t>
            </a:r>
            <a:endParaRPr lang="en-US" sz="1450" dirty="0"/>
          </a:p>
        </p:txBody>
      </p:sp>
      <p:sp>
        <p:nvSpPr>
          <p:cNvPr id="31" name="Shape 22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2" name="Image 7" descr="/tmp/build/assets/icons/FiTrendingU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1709928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9399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7196328" y="1600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50" dirty="0"/>
          </a:p>
        </p:txBody>
      </p:sp>
      <p:sp>
        <p:nvSpPr>
          <p:cNvPr id="35" name="Shape 25"/>
          <p:cNvSpPr/>
          <p:nvPr/>
        </p:nvSpPr>
        <p:spPr>
          <a:xfrm>
            <a:off x="6263640" y="2386584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6" name="Image 8" descr="/tmp/build/assets/icons/FiHe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2496312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793992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7196328" y="23865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450" dirty="0"/>
          </a:p>
        </p:txBody>
      </p:sp>
      <p:sp>
        <p:nvSpPr>
          <p:cNvPr id="39" name="Shape 28"/>
          <p:cNvSpPr/>
          <p:nvPr/>
        </p:nvSpPr>
        <p:spPr>
          <a:xfrm>
            <a:off x="6263640" y="317296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40" name="Image 9" descr="/tmp/build/assets/icons/FiC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3368" y="3282696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793992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42" name="Text 30"/>
          <p:cNvSpPr/>
          <p:nvPr/>
        </p:nvSpPr>
        <p:spPr>
          <a:xfrm>
            <a:off x="7196328" y="3172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Timeline</a:t>
            </a:r>
            <a:endParaRPr lang="en-US" sz="1450" dirty="0"/>
          </a:p>
        </p:txBody>
      </p:sp>
      <p:sp>
        <p:nvSpPr>
          <p:cNvPr id="43" name="Shape 31"/>
          <p:cNvSpPr/>
          <p:nvPr/>
        </p:nvSpPr>
        <p:spPr>
          <a:xfrm>
            <a:off x="6263640" y="3959352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44" name="Image 10" descr="/tmp/build/assets/icons/FiCheck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3368" y="4069080"/>
            <a:ext cx="237744" cy="23774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793992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6" name="Text 33"/>
          <p:cNvSpPr/>
          <p:nvPr/>
        </p:nvSpPr>
        <p:spPr>
          <a:xfrm>
            <a:off x="7196328" y="3959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47" name="Shape 34"/>
          <p:cNvSpPr/>
          <p:nvPr/>
        </p:nvSpPr>
        <p:spPr>
          <a:xfrm>
            <a:off x="6263640" y="4745736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48" name="Image 11" descr="/tmp/build/assets/icons/FiLink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3368" y="4855464"/>
            <a:ext cx="237744" cy="237744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793992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50" name="Text 36"/>
          <p:cNvSpPr/>
          <p:nvPr/>
        </p:nvSpPr>
        <p:spPr>
          <a:xfrm>
            <a:off x="7196328" y="47457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51" name="Text 37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GETTING STARTED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stores pay retail prices for wholesale goods.
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 buy in small, fragmented quantities — so they pay far more per unit than big supermarkets, who negotiate massive bulk discounts. No individual vendor has the volume to negotiate on equal terms.
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Vendor360 (Alternate Track) is a pure digital mediator — connecting vendors, wholesale distributors / mandis, and market intelligence. It owns zero logistics and makes zero deliveries; it only aggregates, matches, and builds trust.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60920" y="16916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D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60920" y="23500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6.3 crore MSMEs currently have access to formal credit.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60920" y="3063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F8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360920" y="37216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MSMEs operate fully informally — with no documented sourcing or repayment history.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60920" y="4434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7360920" y="50932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vehicles or delivery staff owned — the platform is software-only, by design.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60920" y="5806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Policy Circle; IDR — India Development Review, 2025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PRIOR ART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/ Survey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04895" cy="2331720"/>
          </a:xfrm>
          <a:prstGeom prst="roundRect">
            <a:avLst>
              <a:gd name="adj" fmla="val 4706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8" name="Image 1" descr="/tmp/build/assets/icons/Fi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11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377440"/>
            <a:ext cx="3102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ONDC — Proof At Scale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2734056"/>
            <a:ext cx="31025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govt-backed Open Network for Digital Commerce now spans B2B wholesale, validating open “network mediator” models for small sellers.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27855" y="1600200"/>
            <a:ext cx="3504895" cy="2331720"/>
          </a:xfrm>
          <a:prstGeom prst="roundRect">
            <a:avLst>
              <a:gd name="adj" fmla="val 4706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9023" y="180136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3" name="Image 2" descr="/tmp/build/assets/icons/Fi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51" y="19110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9023" y="2377440"/>
            <a:ext cx="3102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Khata Apps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29023" y="2734056"/>
            <a:ext cx="31025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Khatabook &amp; OkCredit solve credit-ledger tracking — but not sourcing, pricing discovery, or procurement.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07070" y="1600200"/>
            <a:ext cx="3504895" cy="2331720"/>
          </a:xfrm>
          <a:prstGeom prst="roundRect">
            <a:avLst>
              <a:gd name="adj" fmla="val 4706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8238" y="180136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8" name="Image 3" descr="/tmp/build/assets/icons/FiCredit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1911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8238" y="2377440"/>
            <a:ext cx="3102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Credit Scoring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08238" y="2734056"/>
            <a:ext cx="31025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utility &amp; transaction data are already used to score MSMEs lacking formal history — validating a Vendor Reliability Score.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3D2645"/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4" descr="/tmp/build/assets/icons/FiAlert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65795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526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targets: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aggregates hyperlocal demand, wholesale supply and a trust layer inside one zero-logistics mediator.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WHY THIS MATTERS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Motivation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8" name="Image 1" descr="/tmp/build/assets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568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42316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collective bargaining power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2779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buy in small lots at retail-level wholesale prices — big chains negotiate bulk discounts alone.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73368" y="184708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3" name="Image 2" descr="/tmp/build/assets/icons/Fi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568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3368" y="242316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local demand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73368" y="2779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unmet hyperlocal consumer demand before a vendor decides what to stock.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8" name="Image 3" descr="/tmp/build/assets/icons/Fi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0565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457200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 distributor pricing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9808" y="492861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relationships stay manual and word-of-mouth, with no structured price discovery.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37947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73368" y="399592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23" name="Image 4" descr="/tmp/build/assets/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0565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73368" y="457200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trust layer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73368" y="492861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have no consistent way to offer small vendors 15–30 day credit terms.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WE WILL BUILD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7" name="Image 1" descr="/tmp/build/assets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66420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207008" y="189280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B2B Co-op Group-Buying engine that aggregates vendor demand into bulk tenders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69164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1" name="Image 2" descr="/tmp/build/assets/icons/Fi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1" y="181234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30568" y="166420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830568" y="189280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Hyperlocal Demand Heatmap dashboard with ROI-scored opportunity alerts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5" name="Image 3" descr="/tmp/build/assets/icons/FiGitMer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22966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08" y="308152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07008" y="331012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Smart Distributor Matching for real-time wholesale price discovery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172200" y="310896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9" name="Image 4" descr="/tmp/build/assets/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901" y="322966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0568" y="308152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830568" y="331012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Vendor Reliability / Credit Score from inventory &amp; payment behaviour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3" name="Image 5" descr="/tmp/build/assets/icons/Fi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4646981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07008" y="449884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207008" y="472744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platform strictly software-only — a broker layer, never fulfilment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172200" y="452628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7" name="Image 6" descr="/tmp/build/assets/icons/FiPer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901" y="4646981"/>
            <a:ext cx="261518" cy="26151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30568" y="4498848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6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6830568" y="472744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measurable bulk-pricing gains vs. individual vendor purchasing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HOW WE WILL BUILD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 / Data Collection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85800" y="1691640"/>
            <a:ext cx="32004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 w="12700">
            <a:solidFill>
              <a:srgbClr val="EC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34540" y="187452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8" name="Image 1" descr="/tmp/build/assets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241" y="199522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Demand Signals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60120" y="282549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vendor order data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transaction history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search-trend proxies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886200" y="21945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4389120" y="1691640"/>
            <a:ext cx="32004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 w="12700">
            <a:solidFill>
              <a:srgbClr val="ECE0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37860" y="187452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2" descr="/tmp/build/assets/icons/FiGit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561" y="199522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&amp; Matching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82549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tender aggregator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bid-matching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 model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7589520" y="21945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8092440" y="1691640"/>
            <a:ext cx="32004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 w="12700">
            <a:solidFill>
              <a:srgbClr val="ECE0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41180" y="1874520"/>
            <a:ext cx="502920" cy="50292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0" name="Image 3" descr="/tmp/build/assets/icons/Fi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881" y="19952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+ Distributor Apps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366760" y="282549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Bulk-tender alerts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 dashboard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9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Credit-score visibility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40080" y="3977640"/>
            <a:ext cx="10881360" cy="0"/>
          </a:xfrm>
          <a:prstGeom prst="line">
            <a:avLst/>
          </a:prstGeom>
          <a:noFill/>
          <a:ln w="12700">
            <a:solidFill>
              <a:srgbClr val="ECE0E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" y="41605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Research: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/ experimental — platform prototype evaluated against simulated marketplace data.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26480" y="41605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discount % achieved vs. solo pricing, distributor response time, score-to-repayment correlation.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06a  ·  WHAT IT RUNS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7" name="Image 1" descr="/tmp/build/assets/icons/Fi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1805757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65506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88720" y="194767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FastAPI — tender aggregation &amp; distributor-matching engine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169164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1" name="Image 2" descr="/tmp/build/assets/icons/Fi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17" y="1805757"/>
            <a:ext cx="247254" cy="247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165506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812280" y="194767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— vendor, distributor &amp; tender records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5" name="Image 3" descr="/tmp/build/assets/icons/Fi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3223077"/>
            <a:ext cx="247254" cy="247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07238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88720" y="336499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+ lightweight web dashboard for vendor &amp; distributor portals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72200" y="310896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9" name="Image 4" descr="/tmp/build/assets/icons/Fi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317" y="3223077"/>
            <a:ext cx="247254" cy="24725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307238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812280" y="336499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search/trend data proxy, GST / payment data connectors (simulated)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48640" y="452628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3" name="Image 5" descr="/tmp/build/assets/icons/Fi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7" y="4640397"/>
            <a:ext cx="247254" cy="24725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44897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Tooling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188720" y="478231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Postman, VS Code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172200" y="4526280"/>
            <a:ext cx="475488" cy="47548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7" name="Image 6" descr="/tmp/build/assets/icons/Fi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317" y="4640397"/>
            <a:ext cx="247254" cy="24725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12280" y="44897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812280" y="4782312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Ubuntu 20.04+ (development environment)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06b  ·  WHAT IT RUNS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8" name="Image 1" descr="/tmp/build/assets/icons/Fi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025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46888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Machine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28254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 / Ryzen 5 or higher, 8GB+ RAM (16GB recommended), 256GB SSD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73368" y="189280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3" name="Image 2" descr="/tmp/build/assets/icons/Fi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00253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3368" y="246888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/ Distributor Device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73368" y="28254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smartphone or desktop browser — no special hardware required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8" name="Image 3" descr="/tmp/build/assets/icons/Fi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5137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461772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/ Cloud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9808" y="49743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managed cloud instance — zero warehousing or logistics infrastructure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38404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73368" y="4041648"/>
            <a:ext cx="457200" cy="45720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23" name="Image 4" descr="/tmp/build/assets/icons/Fi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513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73368" y="461772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73368" y="49743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mobile data — a lightweight dashboard, not a heavy app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WHAT WE EXPECT TO SHOW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/ Results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8F4F7"/>
          </a:solidFill>
          <a:ln/>
        </p:spPr>
      </p:sp>
      <p:sp>
        <p:nvSpPr>
          <p:cNvPr id="7" name="Shape 4"/>
          <p:cNvSpPr/>
          <p:nvPr/>
        </p:nvSpPr>
        <p:spPr>
          <a:xfrm>
            <a:off x="1307592" y="2057400"/>
            <a:ext cx="548640" cy="54864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8" name="Image 1" descr="/tmp/build/assets/icons/Fi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66" y="21890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8346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bulk discounts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356616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tenders demonstrate wholesale-level pricing for small vendors.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79776" y="178308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8F4F7"/>
          </a:solidFill>
          <a:ln/>
        </p:spPr>
      </p:sp>
      <p:sp>
        <p:nvSpPr>
          <p:cNvPr id="12" name="Shape 8"/>
          <p:cNvSpPr/>
          <p:nvPr/>
        </p:nvSpPr>
        <p:spPr>
          <a:xfrm>
            <a:off x="3538728" y="2057400"/>
            <a:ext cx="548640" cy="54864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3" name="Image 2" descr="/tmp/build/assets/icons/Fi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402" y="21890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6936" y="28346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heatmap alert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44368" y="356616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surfaces at least one actionable, unserved-demand opportunity.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10912" y="178308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8F4F7"/>
          </a:solidFill>
          <a:ln/>
        </p:spPr>
      </p:sp>
      <p:sp>
        <p:nvSpPr>
          <p:cNvPr id="17" name="Shape 12"/>
          <p:cNvSpPr/>
          <p:nvPr/>
        </p:nvSpPr>
        <p:spPr>
          <a:xfrm>
            <a:off x="5769864" y="2057400"/>
            <a:ext cx="548640" cy="54864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8" name="Image 3" descr="/tmp/build/assets/icons/Fi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38" y="218907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48072" y="28346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score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175504" y="356616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reliability score distributors can act on with confidence.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242048" y="178308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8F4F7"/>
          </a:solidFill>
          <a:ln/>
        </p:spPr>
      </p:sp>
      <p:sp>
        <p:nvSpPr>
          <p:cNvPr id="22" name="Shape 16"/>
          <p:cNvSpPr/>
          <p:nvPr/>
        </p:nvSpPr>
        <p:spPr>
          <a:xfrm>
            <a:off x="8001000" y="2057400"/>
            <a:ext cx="548640" cy="548640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23" name="Image 4" descr="/tmp/build/assets/icons/Fi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674" y="218907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79208" y="28346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feasibility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06640" y="356616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zero-logistics mediator, demoed within a mini-project timeline.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73184" y="1783080"/>
            <a:ext cx="2066544" cy="3520440"/>
          </a:xfrm>
          <a:prstGeom prst="roundRect">
            <a:avLst>
              <a:gd name="adj" fmla="val 5310"/>
            </a:avLst>
          </a:prstGeom>
          <a:solidFill>
            <a:srgbClr val="F8F4F7"/>
          </a:solidFill>
          <a:ln/>
        </p:spPr>
      </p:sp>
      <p:sp>
        <p:nvSpPr>
          <p:cNvPr id="27" name="Shape 20"/>
          <p:cNvSpPr/>
          <p:nvPr/>
        </p:nvSpPr>
        <p:spPr>
          <a:xfrm>
            <a:off x="10232136" y="2057400"/>
            <a:ext cx="548640" cy="54864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8" name="Image 5" descr="/tmp/build/assets/icons/Fi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810" y="2189074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10344" y="283464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 vendor cohort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637776" y="356616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simulated at a realistic single-zip-code scale.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WHY IT MATTERS BEYOND TECH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Impact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8" name="Image 1" descr="/tmp/build/assets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025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46888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The Playing Field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2825496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kirana stores gain bulk-purchase economics once reserved for big-box retail.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16916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84448" y="189280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3" name="Image 2" descr="/tmp/build/assets/icons/Fi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00253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84448" y="246888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Inclusion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84448" y="2825496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Behaviour-based scoring for the ~85–90% of MSMEs excluded from formal credit.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6916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18" name="Image 3" descr="/tmp/build/assets/icons/Fi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00253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19088" y="246888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Strengthens Local Mandis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19088" y="2825496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distributor ecosystems instead of disintermediating them.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52560" y="16916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1B1E3C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253728" y="1892808"/>
            <a:ext cx="457200" cy="457200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23" name="Image 4" descr="/tmp/build/assets/icons/Fi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00253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53728" y="246888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ONDC-Aligned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253728" y="2825496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India’s vision of open, interoperable digital commerce.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MINI-PROJECT PHASE I · SEM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Timeline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504895" cy="3794760"/>
          </a:xfrm>
          <a:prstGeom prst="roundRect">
            <a:avLst>
              <a:gd name="adj" fmla="val 313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3D2645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5623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CEEE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56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7735" y="1810512"/>
            <a:ext cx="420624" cy="420624"/>
          </a:xfrm>
          <a:prstGeom prst="ellipse">
            <a:avLst/>
          </a:prstGeom>
          <a:solidFill>
            <a:srgbClr val="2F8C81"/>
          </a:solidFill>
          <a:ln/>
        </p:spPr>
      </p:sp>
      <p:pic>
        <p:nvPicPr>
          <p:cNvPr id="10" name="Image 1" descr="/tmp/build/assets/icons/Fi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85" y="191146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313432"/>
            <a:ext cx="3047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7240" y="2907792"/>
            <a:ext cx="3047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July 2026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3200400"/>
            <a:ext cx="3047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Finalization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77240" y="3730752"/>
            <a:ext cx="30476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topic proposed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finalized for Sem 3.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27855" y="1627632"/>
            <a:ext cx="3504895" cy="3794760"/>
          </a:xfrm>
          <a:prstGeom prst="roundRect">
            <a:avLst>
              <a:gd name="adj" fmla="val 313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3D2645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56455" y="185623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3E3C8"/>
          </a:solidFill>
          <a:ln/>
        </p:spPr>
      </p:sp>
      <p:sp>
        <p:nvSpPr>
          <p:cNvPr id="17" name="Text 13"/>
          <p:cNvSpPr/>
          <p:nvPr/>
        </p:nvSpPr>
        <p:spPr>
          <a:xfrm>
            <a:off x="4556455" y="1856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146950" y="1810512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2" descr="/tmp/build/assets/icons/Fi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00" y="191146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56455" y="2313432"/>
            <a:ext cx="3047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4556455" y="2907792"/>
            <a:ext cx="3047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August 2026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56455" y="3200400"/>
            <a:ext cx="3047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4556455" y="3730752"/>
            <a:ext cx="30476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Title, Abstract,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Literature Survey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Block Diagram — presented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review panel.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07070" y="1627632"/>
            <a:ext cx="3504895" cy="3794760"/>
          </a:xfrm>
          <a:prstGeom prst="roundRect">
            <a:avLst>
              <a:gd name="adj" fmla="val 3131"/>
            </a:avLst>
          </a:prstGeom>
          <a:solidFill>
            <a:srgbClr val="F8F4F7"/>
          </a:solidFill>
          <a:ln/>
          <a:effectLst>
            <a:outerShdw sx="100000" sy="100000" kx="0" ky="0" algn="bl" rotWithShape="0" blurRad="127000" dist="25400" dir="5400000">
              <a:srgbClr val="3D2645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335670" y="185623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3E3C8"/>
          </a:solidFill>
          <a:ln/>
        </p:spPr>
      </p:sp>
      <p:sp>
        <p:nvSpPr>
          <p:cNvPr id="26" name="Text 21"/>
          <p:cNvSpPr/>
          <p:nvPr/>
        </p:nvSpPr>
        <p:spPr>
          <a:xfrm>
            <a:off x="8335670" y="1856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0926166" y="1810512"/>
            <a:ext cx="420624" cy="42062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8" name="Image 3" descr="/tmp/build/assets/icons/Fi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115" y="1911462"/>
            <a:ext cx="218724" cy="2187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35670" y="2313432"/>
            <a:ext cx="3047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8335670" y="2907792"/>
            <a:ext cx="3047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November 2026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335670" y="3200400"/>
            <a:ext cx="3047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Presentation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8335670" y="3730752"/>
            <a:ext cx="30476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presented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External Examiner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Industry Expert.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5623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 &amp; poster formats are shared with the group and via email on an ongoing basis.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assets/hero_deck2.png">    </p:cNvPr>
          <p:cNvPicPr>
            <a:picLocks noChangeAspect="1"/>
          </p:cNvPicPr>
          <p:nvPr/>
        </p:nvPicPr>
        <p:blipFill>
          <a:blip r:embed="rId2">
            <a:alphaModFix amt="94000"/>
          </a:blip>
          <a:stretch>
            <a:fillRect/>
          </a:stretch>
        </p:blipFill>
        <p:spPr>
          <a:xfrm>
            <a:off x="7955280" y="146304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WRAPPING 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3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impact for local vendors doesn’t require owning logistics. A lean, pure-software mediator for group buying, market intelligence, and trust-scoring unlocks wholesale economics and formal credit — at near-zero operational complexity.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38862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4A2B5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8862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Mediator, not operator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453128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4A2B5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5312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logistics footprint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020056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4A2B5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020056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power for small stores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3D2645"/>
          </a:solidFill>
          <a:ln/>
        </p:spPr>
      </p:sp>
      <p:pic>
        <p:nvPicPr>
          <p:cNvPr id="3" name="Image 0" descr="/tmp/build/assets/icons/FiLin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SOURCES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GeeksforGeeks — "ONDC: Open Network for Digital Commerce,"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Capgemini — "Demystifying the Indian Open Network for Digital Commerce,"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India Development Review (IDR) — "Reimagining How India’s MSMEs Access Credit,"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RiskSeal — "Alternative Credit Scoring in India: Lending Beyond Banks,"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YuVerse.ai — "Using Alternative Data to Score MSME Borrowers Without Financial History,"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CB Insights Research — "Digitizing the Kirana Store: India’s Retail Opportunity,"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Invest India — "Modernization of Kirana Stores in India," 2025.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Policy Circle — "India’s MSMEs Face a ₹25 Lakh Crore Credit Gap," 2025.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assets/hero_deck2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6903720" y="502920"/>
            <a:ext cx="539496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606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58368" y="3520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5120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Vendor360 (Alternate Track)  —  A Zero-Logistics B2B Mediator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|  [Student Name 2]  |  [Student Name 3]  |  [Student Name 4]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[team-email@example.com]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566160" y="6510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Vendor360 Alternate — B2B Mediator Platform</dc:title>
  <dc:subject>PptxGenJS Presentation</dc:subject>
  <dc:creator>PptxGenJS</dc:creator>
  <cp:lastModifiedBy>PptxGenJS</cp:lastModifiedBy>
  <cp:revision>1</cp:revision>
  <dcterms:created xsi:type="dcterms:W3CDTF">2026-08-06T07:03:58Z</dcterms:created>
  <dcterms:modified xsi:type="dcterms:W3CDTF">2026-08-06T07:03:58Z</dcterms:modified>
</cp:coreProperties>
</file>