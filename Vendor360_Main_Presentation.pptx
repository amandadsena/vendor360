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95" r:id="rId2"/>
    <p:sldId id="296" r:id="rId3"/>
    <p:sldId id="297" r:id="rId4"/>
    <p:sldId id="318" r:id="rId5"/>
    <p:sldId id="312" r:id="rId6"/>
    <p:sldId id="302" r:id="rId7"/>
    <p:sldId id="324" r:id="rId8"/>
    <p:sldId id="325" r:id="rId9"/>
    <p:sldId id="301" r:id="rId10"/>
    <p:sldId id="317" r:id="rId11"/>
    <p:sldId id="300" r:id="rId12"/>
    <p:sldId id="320" r:id="rId13"/>
    <p:sldId id="299" r:id="rId14"/>
    <p:sldId id="321" r:id="rId15"/>
    <p:sldId id="306" r:id="rId16"/>
    <p:sldId id="32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94660"/>
  </p:normalViewPr>
  <p:slideViewPr>
    <p:cSldViewPr showGuides="1">
      <p:cViewPr varScale="1">
        <p:scale>
          <a:sx n="78" d="100"/>
          <a:sy n="78" d="100"/>
        </p:scale>
        <p:origin x="154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</a:p>
        </p:txBody>
      </p:sp>
      <p:sp>
        <p:nvSpPr>
          <p:cNvPr id="1048734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BDCAC-1AFF-496B-AB0E-BDD1F0F6045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735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73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F956E-4251-496A-8D0D-17F31555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NCIRIT2020</a:t>
            </a:r>
          </a:p>
        </p:txBody>
      </p:sp>
      <p:sp>
        <p:nvSpPr>
          <p:cNvPr id="104872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72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3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4191C-5F97-45FA-93E7-34B3FDEBD0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00" name="Date 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601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  <a:t>1</a:t>
            </a:fld>
            <a:endParaRPr lang="en-US"/>
          </a:p>
        </p:txBody>
      </p:sp>
      <p:sp>
        <p:nvSpPr>
          <p:cNvPr id="104860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03" name="Header Placeholder 10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503331-EF96-4D18-B68E-4EE5FB68495D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486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4191C-5F97-45FA-93E7-34B3FDEBD0DF}" type="slidenum">
              <a:rPr lang="en-US" smtClean="0"/>
              <a:t>2</a:t>
            </a:fld>
            <a:endParaRPr lang="en-US"/>
          </a:p>
        </p:txBody>
      </p:sp>
      <p:sp>
        <p:nvSpPr>
          <p:cNvPr id="1048619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20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US"/>
              <a:t>NCIRIT2020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84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85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48586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9221-B697-47E1-8BB8-FBF3A97E00F7}" type="datetime1">
              <a:rPr lang="en-US" smtClean="0"/>
              <a:t>8/6/2026</a:t>
            </a:fld>
            <a:endParaRPr lang="en-US"/>
          </a:p>
        </p:txBody>
      </p:sp>
      <p:sp>
        <p:nvSpPr>
          <p:cNvPr id="104858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588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589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92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7930B-4609-4A8D-B1C3-8DB06F8A979D}" type="datetime1">
              <a:rPr lang="en-US" smtClean="0"/>
              <a:t>8/6/2026</a:t>
            </a:fld>
            <a:endParaRPr lang="en-US"/>
          </a:p>
        </p:txBody>
      </p:sp>
      <p:sp>
        <p:nvSpPr>
          <p:cNvPr id="10486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60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693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9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84F-1C5E-4621-8FE8-ACC022001FF9}" type="datetime1">
              <a:rPr lang="en-US" smtClean="0"/>
              <a:t>8/6/2026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98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99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0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70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A372-FA62-427C-896F-EAE8CC1B92BC}" type="datetime1">
              <a:rPr lang="en-US" smtClean="0"/>
              <a:t>8/6/2026</a:t>
            </a:fld>
            <a:endParaRPr lang="en-US"/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06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07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709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10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3320-00D3-4007-A481-F2556FE15E5D}" type="datetime1">
              <a:rPr lang="en-US" smtClean="0"/>
              <a:t>8/6/2026</a:t>
            </a:fld>
            <a:endParaRPr lang="en-US"/>
          </a:p>
        </p:txBody>
      </p:sp>
      <p:sp>
        <p:nvSpPr>
          <p:cNvPr id="10487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14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715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7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54458-3680-4F41-AEFA-96D39D9FC2FB}" type="datetime1">
              <a:rPr lang="en-US" smtClean="0"/>
              <a:t>8/6/2026</a:t>
            </a:fld>
            <a:endParaRPr lang="en-US"/>
          </a:p>
        </p:txBody>
      </p:sp>
      <p:sp>
        <p:nvSpPr>
          <p:cNvPr id="104867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7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F760-1344-4D88-9A8C-4510642D4C61}" type="datetime1">
              <a:rPr lang="en-US" smtClean="0"/>
              <a:t>8/6/2026</a:t>
            </a:fld>
            <a:endParaRPr lang="en-US"/>
          </a:p>
        </p:txBody>
      </p:sp>
      <p:sp>
        <p:nvSpPr>
          <p:cNvPr id="104871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720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722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7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43547-CC27-4DA6-A179-AE3ED782B249}" type="datetime1">
              <a:rPr lang="en-US" smtClean="0"/>
              <a:t>8/6/2026</a:t>
            </a:fld>
            <a:endParaRPr lang="en-US"/>
          </a:p>
        </p:txBody>
      </p:sp>
      <p:sp>
        <p:nvSpPr>
          <p:cNvPr id="10487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7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726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04867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486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165A-D6D7-45F2-8A47-6C75922FBA2A}" type="datetime1">
              <a:rPr lang="en-US" smtClean="0"/>
              <a:t>8/6/2026</a:t>
            </a:fld>
            <a:endParaRPr lang="en-US"/>
          </a:p>
        </p:txBody>
      </p:sp>
      <p:sp>
        <p:nvSpPr>
          <p:cNvPr id="104868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8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  <p:sp>
        <p:nvSpPr>
          <p:cNvPr id="1048683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4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5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686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6913-3839-4C01-9B6B-CC13529F5ED0}" type="datetime1">
              <a:rPr lang="en-US" smtClean="0"/>
              <a:t>8/6/2026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67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486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ECFDC-A1D1-41A5-B502-3EA87819841B}" type="datetime1">
              <a:rPr lang="en-US" smtClean="0"/>
              <a:t>8/6/2026</a:t>
            </a:fld>
            <a:endParaRPr lang="en-US"/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SAGE UNIVERSITY, INDORE</a:t>
            </a:r>
          </a:p>
        </p:txBody>
      </p:sp>
      <p:sp>
        <p:nvSpPr>
          <p:cNvPr id="10486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48577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48578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048579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48580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C2A6AA7-E716-4B0E-8EBE-49AFB6EA21E2}" type="datetime1">
              <a:rPr lang="en-US" smtClean="0"/>
              <a:t>8/6/2026</a:t>
            </a:fld>
            <a:endParaRPr lang="en-US"/>
          </a:p>
        </p:txBody>
      </p:sp>
      <p:sp>
        <p:nvSpPr>
          <p:cNvPr id="104858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SAGE UNIVERSITY, INDORE</a:t>
            </a:r>
          </a:p>
        </p:txBody>
      </p:sp>
      <p:sp>
        <p:nvSpPr>
          <p:cNvPr id="104858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BC9E9F2-D9C2-4812-8202-65AFE3A88A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00" y="1600200"/>
            <a:ext cx="8915400" cy="1299555"/>
          </a:xfrm>
          <a:prstGeom prst="rect">
            <a:avLst/>
          </a:prstGeom>
        </p:spPr>
        <p:txBody>
          <a:bodyPr bIns="91440" anchor="ctr" anchorCtr="0">
            <a:noAutofit/>
          </a:bodyPr>
          <a:lstStyle/>
          <a:p>
            <a:pPr algn="ctr"/>
            <a:r>
              <a:rPr lang="en-US" sz="2400" b="1" dirty="0"/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Ajeenkya D Y Patil University,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Pune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3032760"/>
            <a:ext cx="85344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Vendor360: AI-Powered Predictive Intelligence for India’s Local Vendors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 –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1112520" y="4876800"/>
            <a:ext cx="3992880" cy="16002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Students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 [Aman Singh Dadsena]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 [Ajay Juneja]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 [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Mohanish Das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 panose="05020102010507070707"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 [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Nishant Kumar Jha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</a:p>
        </p:txBody>
      </p:sp>
      <p:pic>
        <p:nvPicPr>
          <p:cNvPr id="5" name="Picture 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" y="165735"/>
            <a:ext cx="8012430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 rot="5400000">
            <a:off x="7490460" y="4763135"/>
            <a:ext cx="6400800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1048610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5259705" cy="4572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12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2</a:t>
            </a:fld>
            <a:endParaRPr lang="en-US"/>
          </a:p>
        </p:txBody>
      </p:sp>
      <p:sp>
        <p:nvSpPr>
          <p:cNvPr id="104861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6553200" cy="472440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&amp; Motivation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Predictive Analytics Engine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Mobile Experience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</a:t>
            </a:r>
          </a:p>
          <a:p>
            <a:pPr lvl="3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Societal Impact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Timeline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3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12838"/>
            <a:ext cx="7162800" cy="4906962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India’s neighbourhood “kirana” stores number in the millions and anchor local retail, yet most still track stock and sales on paper or by memory.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reactive, ledger-based model leads to frequent stockouts on fast-moving items and silent spoilage of perishables — direct losses on already thin margins.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Vendor360 reimagines the vendor’s backend as a predictive, voice-first assistant — forecasting demand, tracking expiry, and working offline in low-connectivity markets.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built as a Flutter mobile app backed by an AI prediction engine, turning everyday sales activity into forward-looking, actionable guidance.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4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Review/Survey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apps such as OkCredit and Khatabook digitize credit records but remain purely historical — they log what already happened and forecast nothing.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Vyapar adds GST billing and inventory tracking, but is subscription-gated and built for accountants, not a 90-second vendor workflow.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demand-forecasting research (ARIMA, Prophet, LSTM) powers large-retail chains — a market projected to grow from $7.4B to $27.2B by 2029 — but is rarely adapted for micro-vendors.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initiatives such as BHASHINI (vernacular speech AI) and ONDC (open commerce network) create new infrastructure this project can build directly on.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6358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&amp; Motivation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Retrospective, not predictive —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apps record yesterday’s sale; none forecast tomorrow’s demand from external, real-world signals.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vernacular, voice-first UX —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item-wise stock counts is a real barrier for vendors with low digital literacy or typing speed.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reorder points —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 ignore perishability, sales velocity, and supplier lead time — causing waste or stockouts.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Locked out of formal credit —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10–15% of India’s MSMEs access formal credit; informal vendors have no verifiable financial footprint.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6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context-aware demand forecasting using weather and regional festival signals.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dynamic, ML-driven safety-stock modelling for each perishable category.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multi-vendor collective bargaining by batching common shortages into bulk orders.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zero-friction vernacular voice-to-inventory logging using Bhashini ASR.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OCR-based receipt scanning for automatic expiry and shelf-life tracking.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offline-first architecture with reliable multi-device cloud sync.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verifiable vendor Health Score to unlock micro-credit access.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7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Predictive Analytics Engine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12838"/>
            <a:ext cx="7162800" cy="4906962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Demand Forecasting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external signals such as local weather and regional festival calendars to predict demand spikes (e.g. extra umbrellas before unseasonal rain, extra dairy before Ganesh Chaturthi).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Safety Stock Modelling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abandons fixed reorder points; machine learning calculates safety stock from real-time sales velocity, supplier lead time, and shelf life, so thresholds adapt per SKU.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Collective Bargaining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common shortages across vendors in the same area and batches them into one wholesale order, so small unorganised vendors secure bulk discounts normally reserved for big supermarkets.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8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Mobile Experience (Flutter App)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12838"/>
            <a:ext cx="7162800" cy="4906962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Vernacular Voice-to-Inventory Logging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vendor taps the mic and speaks stock updates in Hindi or Marathi; Bhashini transcribes it and the NLP engine auto-updates the database.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Expiry &amp; OCR Receipt Scanning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photo of a wholesale receipt is enough — OCR logs items, calculates shelf life, and sets automated “sell-by” countdowns.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Offline-First, Multi-Sync Architecture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caches daily logs locally and syncs automatically once a stable connection returns, so there is zero data loss in crowded markets.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Micro-Credit “Health Score” — 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sales, turnover, and minimal waste generate a business health score — a verifiable footprint micro-finance institutions can act on.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9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Methodology/Data Collection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960438"/>
            <a:ext cx="8083296" cy="5308599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Research: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/ experimental — design, development, and evaluation of a working Vendor360 prototype.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Voice-transcribed sales logs captured through the Flutter app.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OCR-scanned wholesale receipts and batch barcodes.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and regional festival-calendar APIs for demand signals.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(MAPE), stockout reduction %, voice-transcription accuracy, and sync reliability under intermittent connectivity.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392946" y="6324868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017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b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038225"/>
            <a:ext cx="7772400" cy="4981575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3.11+, FastAPI, scikit-learn / Prophet for demand forecasting.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Supabase (PostgreSQL) — managed cloud database with a local offline cache.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 — a single codebase for both Android and iOS.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APIs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Bhashini Speech-to-Text, an OCR engine, and a public weather-data API.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 Tooling —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/ GitHub, Postman, VS Code, Android Studio.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11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Outcomes/Results/Findings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stockouts — predictive restocking cuts missed sales on fast-moving items.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perishable waste — dynamic safety-stock trims over-ordering on short shelf-life goods.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10-second voice logging — vernacular voice input replaces minutes of manual typing.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data loss — offline-first sync survives patchy market-area connectivity.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Health Score — a prototype credit-signal ready to be piloted with lenders.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12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Societal Impact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Inclusion —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roughly 85–90% of underserved MSME vendors a verifiable footprint for credit.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Waste —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Perishable-aware stocking cuts spoilage across dairy, produce, and bakery.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By Design —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Voice-first, vernacular UX works regardless of literacy or typing skill.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India —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self-reliant, digitally-empowered local commerce in line with the Digital India mission.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13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Timeline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</p:nvPr>
        </p:nvGraphicFramePr>
        <p:xfrm>
          <a:off x="914400" y="1828800"/>
          <a:ext cx="71628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30 July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Title Finalization Presentation —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/>
                        <a:t>27 August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 1 — Title, Abstract, Introduction, Literature Survey &amp; Block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dirty="0"/>
                        <a:t>18 November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Presentation before External Examiner / Industry Expert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14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90625"/>
            <a:ext cx="7162800" cy="4829175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Vendor360 turns the neighbourhood store’s backend from passive record-keeping into active, predictive intelligence — while staying voice-first, offline-first, and accessible to every vendor, regardless of language or literacy.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15</a:t>
            </a:fld>
            <a:endParaRPr lang="en-US"/>
          </a:p>
        </p:txBody>
      </p:sp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72400" cy="579438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162800" cy="4876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India — “Modernization of Kirana Stores in India,”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 Insights Research — “Digitizing the Kirana Store: India’s Retail Opportunity,”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RELEX Solutions — “Machine Learning in Retail Demand Forecasting,”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IJSAT — “AI-Driven Demand Forecasting in Enterprise Retail Systems,”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Information Bureau, Govt. of India — “Digital India BHASHINI Division,” 2026.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Development Review (IDR) — “Reimagining How India’s MSMEs Access Credit,”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RiskSeal — “Alternative Credit Scoring in India: Lending Beyond Banks,”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 — “ONDC: Open Network for Digital Commerce,” 2025.</a:t>
            </a: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 </a:t>
            </a:r>
          </a:p>
          <a:p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9E9F2-D9C2-4812-8202-65AFE3A88A5F}" type="slidenum">
              <a:rPr lang="en-US" smtClean="0"/>
              <a:t>16</a:t>
            </a:fld>
            <a:endParaRPr lang="en-US"/>
          </a:p>
        </p:txBody>
      </p:sp>
      <p:sp>
        <p:nvSpPr>
          <p:cNvPr id="1048625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162800" cy="4191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>
                <a:solidFill>
                  <a:srgbClr val="FF0000"/>
                </a:solidFill>
                <a:latin typeface="Franklin Gothic Demi" panose="020B0703020102020204" pitchFamily="34" charset="0"/>
              </a:rPr>
              <a:t>Thank you Questions If any.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Date Placeholder 18"/>
          <p:cNvSpPr>
            <a:spLocks noGrp="1"/>
          </p:cNvSpPr>
          <p:nvPr>
            <p:ph type="dt" sz="half" idx="10"/>
          </p:nvPr>
        </p:nvSpPr>
        <p:spPr>
          <a:xfrm>
            <a:off x="6438900" y="6191250"/>
            <a:ext cx="2476500" cy="47625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:-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691987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1358</Words>
  <Application>Microsoft Office PowerPoint</Application>
  <PresentationFormat>On-screen Show (4:3)</PresentationFormat>
  <Paragraphs>169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Franklin Gothic Book</vt:lpstr>
      <vt:lpstr>Franklin Gothic Demi</vt:lpstr>
      <vt:lpstr>Perpetua</vt:lpstr>
      <vt:lpstr>Times New Roman</vt:lpstr>
      <vt:lpstr>Wingdings</vt:lpstr>
      <vt:lpstr>Wingdings 2</vt:lpstr>
      <vt:lpstr>Equity</vt:lpstr>
      <vt:lpstr>PowerPoint Presentation</vt:lpstr>
      <vt:lpstr>Outlines</vt:lpstr>
      <vt:lpstr>Introduction</vt:lpstr>
      <vt:lpstr>Literature Review/Survey</vt:lpstr>
      <vt:lpstr>Research Gap &amp; Motivation </vt:lpstr>
      <vt:lpstr>Research Objectives</vt:lpstr>
      <vt:lpstr>AI &amp; Predictive Analytics Engine</vt:lpstr>
      <vt:lpstr>Vendor Mobile Experience (Flutter App)</vt:lpstr>
      <vt:lpstr>Research Methodology/Data Collection</vt:lpstr>
      <vt:lpstr>Software Requirements </vt:lpstr>
      <vt:lpstr>Expected Outcomes/Results/Findings</vt:lpstr>
      <vt:lpstr> Societal Impact</vt:lpstr>
      <vt:lpstr> Research Timeline</vt:lpstr>
      <vt:lpstr> 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SYSTEMATIC ANALYSIS OF SOFTWARE COST  ESTIMATION TECHNIQUES</dc:title>
  <dc:creator>om</dc:creator>
  <cp:lastModifiedBy>aman dadsena</cp:lastModifiedBy>
  <cp:revision>92</cp:revision>
  <dcterms:created xsi:type="dcterms:W3CDTF">2020-06-20T22:37:00Z</dcterms:created>
  <dcterms:modified xsi:type="dcterms:W3CDTF">2026-08-06T09:23:17Z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EE21529C30264EF3AFF63C0E8D5E4463_12</vt:lpwstr>
  </property>
</Properties>
</file>