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95" r:id="rId2"/>
    <p:sldId id="296" r:id="rId3"/>
    <p:sldId id="297" r:id="rId4"/>
    <p:sldId id="318" r:id="rId5"/>
    <p:sldId id="312" r:id="rId6"/>
    <p:sldId id="302" r:id="rId7"/>
    <p:sldId id="301" r:id="rId8"/>
    <p:sldId id="317" r:id="rId9"/>
    <p:sldId id="323" r:id="rId10"/>
    <p:sldId id="300" r:id="rId11"/>
    <p:sldId id="320" r:id="rId12"/>
    <p:sldId id="299" r:id="rId13"/>
    <p:sldId id="321" r:id="rId14"/>
    <p:sldId id="306" r:id="rId15"/>
    <p:sldId id="32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91" autoAdjust="0"/>
    <p:restoredTop sz="94660"/>
  </p:normalViewPr>
  <p:slideViewPr>
    <p:cSldViewPr showGuides="1">
      <p:cViewPr varScale="1">
        <p:scale>
          <a:sx n="78" d="100"/>
          <a:sy n="78" d="100"/>
        </p:scale>
        <p:origin x="154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NCIRIT2020</a:t>
            </a:r>
          </a:p>
        </p:txBody>
      </p:sp>
      <p:sp>
        <p:nvSpPr>
          <p:cNvPr id="1048734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5BDCAC-1AFF-496B-AB0E-BDD1F0F6045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48735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SAGE UNIVERSITY, INDORE</a:t>
            </a:r>
          </a:p>
        </p:txBody>
      </p:sp>
      <p:sp>
        <p:nvSpPr>
          <p:cNvPr id="1048736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F956E-4251-496A-8D0D-17F31555D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NCIRIT2020</a:t>
            </a:r>
          </a:p>
        </p:txBody>
      </p:sp>
      <p:sp>
        <p:nvSpPr>
          <p:cNvPr id="104872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03331-EF96-4D18-B68E-4EE5FB68495D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4872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73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SAGE UNIVERSITY, INDORE</a:t>
            </a:r>
          </a:p>
        </p:txBody>
      </p:sp>
      <p:sp>
        <p:nvSpPr>
          <p:cNvPr id="104873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4191C-5F97-45FA-93E7-34B3FDEBD0D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9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048600" name="Date 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F503331-EF96-4D18-B68E-4EE5FB68495D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48601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F4191C-5F97-45FA-93E7-34B3FDEBD0DF}" type="slidenum">
              <a:rPr lang="en-US" smtClean="0"/>
              <a:t>1</a:t>
            </a:fld>
            <a:endParaRPr lang="en-US"/>
          </a:p>
        </p:txBody>
      </p:sp>
      <p:sp>
        <p:nvSpPr>
          <p:cNvPr id="104860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03" name="Header Placeholder 10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n-US"/>
              <a:t>NCIRIT2020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6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048617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F503331-EF96-4D18-B68E-4EE5FB68495D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4861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F4191C-5F97-45FA-93E7-34B3FDEBD0DF}" type="slidenum">
              <a:rPr lang="en-US" smtClean="0"/>
              <a:t>2</a:t>
            </a:fld>
            <a:endParaRPr lang="en-US"/>
          </a:p>
        </p:txBody>
      </p:sp>
      <p:sp>
        <p:nvSpPr>
          <p:cNvPr id="1048619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20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n-US"/>
              <a:t>NCIRIT2020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48584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85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048586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9221-B697-47E1-8BB8-FBF3A97E00F7}" type="datetime1">
              <a:rPr lang="en-US" smtClean="0"/>
              <a:t>8/6/2026</a:t>
            </a:fld>
            <a:endParaRPr lang="en-US"/>
          </a:p>
        </p:txBody>
      </p:sp>
      <p:sp>
        <p:nvSpPr>
          <p:cNvPr id="104858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588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  <p:sp>
        <p:nvSpPr>
          <p:cNvPr id="1048589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9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9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92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6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7930B-4609-4A8D-B1C3-8DB06F8A979D}" type="datetime1">
              <a:rPr lang="en-US" smtClean="0"/>
              <a:t>8/6/2026</a:t>
            </a:fld>
            <a:endParaRPr lang="en-US"/>
          </a:p>
        </p:txBody>
      </p:sp>
      <p:sp>
        <p:nvSpPr>
          <p:cNvPr id="10486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  <p:sp>
        <p:nvSpPr>
          <p:cNvPr id="104860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48693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69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486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84F-1C5E-4621-8FE8-ACC022001FF9}" type="datetime1">
              <a:rPr lang="en-US" smtClean="0"/>
              <a:t>8/6/2026</a:t>
            </a:fld>
            <a:endParaRPr lang="en-US"/>
          </a:p>
        </p:txBody>
      </p:sp>
      <p:sp>
        <p:nvSpPr>
          <p:cNvPr id="104869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98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99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700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7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70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A372-FA62-427C-896F-EAE8CC1B92BC}" type="datetime1">
              <a:rPr lang="en-US" smtClean="0"/>
              <a:t>8/6/2026</a:t>
            </a:fld>
            <a:endParaRPr lang="en-US"/>
          </a:p>
        </p:txBody>
      </p:sp>
      <p:sp>
        <p:nvSpPr>
          <p:cNvPr id="104870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70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  <p:sp>
        <p:nvSpPr>
          <p:cNvPr id="1048706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707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709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48710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487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3320-00D3-4007-A481-F2556FE15E5D}" type="datetime1">
              <a:rPr lang="en-US" smtClean="0"/>
              <a:t>8/6/2026</a:t>
            </a:fld>
            <a:endParaRPr lang="en-US"/>
          </a:p>
        </p:txBody>
      </p:sp>
      <p:sp>
        <p:nvSpPr>
          <p:cNvPr id="104871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71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  <p:sp>
        <p:nvSpPr>
          <p:cNvPr id="1048714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715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67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54458-3680-4F41-AEFA-96D39D9FC2FB}" type="datetime1">
              <a:rPr lang="en-US" smtClean="0"/>
              <a:t>8/6/2026</a:t>
            </a:fld>
            <a:endParaRPr lang="en-US"/>
          </a:p>
        </p:txBody>
      </p:sp>
      <p:sp>
        <p:nvSpPr>
          <p:cNvPr id="104867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7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BF760-1344-4D88-9A8C-4510642D4C61}" type="datetime1">
              <a:rPr lang="en-US" smtClean="0"/>
              <a:t>8/6/2026</a:t>
            </a:fld>
            <a:endParaRPr lang="en-US"/>
          </a:p>
        </p:txBody>
      </p:sp>
      <p:sp>
        <p:nvSpPr>
          <p:cNvPr id="104871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71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48720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721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722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487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3547-CC27-4DA6-A179-AE3ED782B249}" type="datetime1">
              <a:rPr lang="en-US" smtClean="0"/>
              <a:t>8/6/2026</a:t>
            </a:fld>
            <a:endParaRPr lang="en-US"/>
          </a:p>
        </p:txBody>
      </p:sp>
      <p:sp>
        <p:nvSpPr>
          <p:cNvPr id="10487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7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  <p:sp>
        <p:nvSpPr>
          <p:cNvPr id="1048726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679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4868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C165A-D6D7-45F2-8A47-6C75922FBA2A}" type="datetime1">
              <a:rPr lang="en-US" smtClean="0"/>
              <a:t>8/6/2026</a:t>
            </a:fld>
            <a:endParaRPr lang="en-US"/>
          </a:p>
        </p:txBody>
      </p:sp>
      <p:sp>
        <p:nvSpPr>
          <p:cNvPr id="1048681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82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  <p:sp>
        <p:nvSpPr>
          <p:cNvPr id="1048683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84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85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86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68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6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6913-3839-4C01-9B6B-CC13529F5ED0}" type="datetime1">
              <a:rPr lang="en-US" smtClean="0"/>
              <a:t>8/6/2026</a:t>
            </a:fld>
            <a:endParaRPr lang="en-US"/>
          </a:p>
        </p:txBody>
      </p:sp>
      <p:sp>
        <p:nvSpPr>
          <p:cNvPr id="10486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67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67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ECFDC-A1D1-41A5-B502-3EA87819841B}" type="datetime1">
              <a:rPr lang="en-US" smtClean="0"/>
              <a:t>8/6/2026</a:t>
            </a:fld>
            <a:endParaRPr lang="en-US"/>
          </a:p>
        </p:txBody>
      </p:sp>
      <p:sp>
        <p:nvSpPr>
          <p:cNvPr id="104867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7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48577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78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579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48580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C2A6AA7-E716-4B0E-8EBE-49AFB6EA21E2}" type="datetime1">
              <a:rPr lang="en-US" smtClean="0"/>
              <a:t>8/6/2026</a:t>
            </a:fld>
            <a:endParaRPr lang="en-US"/>
          </a:p>
        </p:txBody>
      </p:sp>
      <p:sp>
        <p:nvSpPr>
          <p:cNvPr id="104858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SAGE UNIVERSITY, INDORE</a:t>
            </a:r>
          </a:p>
        </p:txBody>
      </p:sp>
      <p:sp>
        <p:nvSpPr>
          <p:cNvPr id="104858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00" y="1600200"/>
            <a:ext cx="8915400" cy="1299555"/>
          </a:xfrm>
          <a:prstGeom prst="rect">
            <a:avLst/>
          </a:prstGeom>
        </p:spPr>
        <p:txBody>
          <a:bodyPr bIns="91440" anchor="ctr" anchorCtr="0">
            <a:noAutofit/>
          </a:bodyPr>
          <a:lstStyle/>
          <a:p>
            <a:pPr algn="ctr"/>
            <a:r>
              <a:rPr lang="en-US" sz="2400" b="1" dirty="0"/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Ajeenkya D Y Patil University,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Pune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37185" y="3029010"/>
            <a:ext cx="85344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AI-Powered Personalized Travel Planner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</a:t>
            </a:r>
          </a:p>
          <a:p>
            <a:pPr algn="ctr">
              <a:lnSpc>
                <a:spcPct val="150000"/>
              </a:lnSpc>
            </a:pPr>
            <a:r>
              <a:rPr lang="en-US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Presented By –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1219200" y="4896752"/>
            <a:ext cx="2895600" cy="14478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en-US" sz="16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Students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Ajay Juneja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Mohanish Das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Aman Singh Dadsena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 Nishant Kumar Jha</a:t>
            </a:r>
          </a:p>
        </p:txBody>
      </p:sp>
      <p:pic>
        <p:nvPicPr>
          <p:cNvPr id="5" name="Picture 3" descr="IMG_2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70" y="165735"/>
            <a:ext cx="8012430" cy="1209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1048610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5259705" cy="4572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</p:txBody>
      </p:sp>
      <p:sp>
        <p:nvSpPr>
          <p:cNvPr id="1048612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2</a:t>
            </a:fld>
            <a:endParaRPr lang="en-US"/>
          </a:p>
        </p:txBody>
      </p:sp>
      <p:sp>
        <p:nvSpPr>
          <p:cNvPr id="104861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6553200" cy="4724400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Research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Societal Impact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Timeline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3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12838"/>
            <a:ext cx="7162800" cy="4906962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AI-Powered Personalized Travel Planner is an intelligent travel recommendation system designed to simplify the trip-planning process.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a vacation usually means visiting many different websites to compare destinations, hotels, restaurants, transport options, weather, and expenses – a process that is time-consuming and confusing.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provides a single platform where users receive personalized travel recommendations based on their preferences, budget, and travel duration.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Artificial Intelligence and Machine Learning, the system generates customized travel plans, making trip planning faster, smarter, and more convenient.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4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Review/Survey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90625"/>
            <a:ext cx="7162800" cy="4829175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travel platforms are fragmented – hotel-booking sites, travel blogs, weather apps, and review portals each cover only one part of trip planning, forcing travelers to cross-check multiple sources.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travel websites display generic, popularity-based recommendations rather than suggestions tailored to an individual traveler's interests.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Traveler preferences vary widely – adventure, beaches, nature, historical places, shopping, food, or nightlife – but existing platforms rarely adapt recommendations to this diversity.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gap highlights the need for an AI-based system that understands user preferences and personalizes destinations, hotels, attractions, and itineraries accordingly.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63587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&amp; Motivation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Trip-planning information is scattered across booking sites, blogs, weather apps, and review platforms, requiring significant manual effort to compare.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provide generic, one-size-fits-all suggestions instead of recommendations based on an individual's interests and budget.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platform combines destination, hotel, restaurant, and attraction recommendations with automatic budget estimation and itinerary generation.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 build an AI/ML-based system that unifies these services and produces a personalized, budget-aware travel plan on one platform.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6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90625"/>
            <a:ext cx="7162800" cy="4829175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destinations based on the user's interests.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the total travel budget for the trip.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hotels and restaurants that match the user's budget and ratings.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nearby tourist attractions and activities.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day-wise travel itinerary.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effort required for travel planning by integrating multiple services into a single platform.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7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Methodology/Data Collection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603504" y="960438"/>
            <a:ext cx="8083296" cy="5308599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Research: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Recommendation System that compares user preferences with destination features using Cosine Similarity.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 to recommend destinations similar to a user's previous choices.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/ Linear Regression for budget estimation based on destination, duration, travelers, and season.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Destination, hotel, restaurant, tourist attraction, and weather datasets covering city, ratings, prices, amenities, and climate.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Sources: Kaggle, government tourism websites, OpenStreetMap, or manually curated data.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392946" y="6324868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0017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  <a:b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914400" y="1038225"/>
            <a:ext cx="7772400" cy="4981575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10/11 or Ubuntu 20.04+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Streamlit (simple) or React (advanced interface)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Flask or FastAPI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PostgreSQL or MySQL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Pandas, NumPy, Scikit-learn, Plotly / Matplotlib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Git and GitHub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0017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  <a:b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914400" y="1038225"/>
            <a:ext cx="7772400" cy="4981575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i5 / AMD Ryzen 5 or higher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8 GB minimum (16 GB recommended for smoother model training)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10 GB free disk space for datasets and dependencies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internet connection for accessing weather, maps, and other travel APIs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10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Outcomes/Results/Findings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162800" cy="4191000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recommended destination matched to the user's interests, along with hotels that fit their budget and preferences.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list of highly rated restaurants, nearby tourist attractions, and activities.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estimated total trip cost covering transportation, accommodation, food, and activities, kept within the user's budget.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detailed, day-wise travel itinerary for efficient trip planning.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11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Societal Impact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162800" cy="4191000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travelers significant time and effort by replacing multiple scattered searches with one personalized platform.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trip planning more accessible to budget-conscious and first-time travelers by keeping every recommendation within their budget.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the tourism and hospitality sector by helping travel agencies and tourism companies reach travelers with relevant offerings.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more informed, efficient travel choices for students, families, corporate travelers, and individuals alike.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12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Research Timeline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sz="quarter" idx="1"/>
          </p:nvPr>
        </p:nvGraphicFramePr>
        <p:xfrm>
          <a:off x="914400" y="1828800"/>
          <a:ext cx="7162800" cy="394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Requirement analysis and literature study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Dataset collection and preparation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Phase 3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Data cleaning and feature 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Phase 4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building and 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Phase 5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Backend, frontend, and DB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Phase 6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Testing and final demonstration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13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 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90625"/>
            <a:ext cx="7162800" cy="4829175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AI-Powered Personalized Travel Planner is a practical, real-world application of AI and Machine Learning that simplifies trip planning through personalized recommendations based on user preferences, budget, and trip duration.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recommendation systems, predictive analytics, databases, and web technologies into one intelligent platform, demonstrating end-to-end AI skills valuable for Data Science and Machine Learning internships.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14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162800" cy="4876800"/>
          </a:xfrm>
        </p:spPr>
        <p:txBody>
          <a:bodyPr>
            <a:normAutofit lnSpcReduction="1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– open travel and tourism datasets for destinations, hotels, and attractions.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 – open geographic data for destinations and points of interest.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 – reference for recommendation and regression algorithms (Cosine Similarity, KNN, Random Forest Regressor, Linear Regression).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Streamlit, Flask, and FastAPI Documentation – reference for frontend and backend implementation.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government tourism websites – reference for destination, weather, and travel information.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  <a:p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15</a:t>
            </a:fld>
            <a:endParaRPr lang="en-US"/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162800" cy="4191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dirty="0">
                <a:solidFill>
                  <a:srgbClr val="FF0000"/>
                </a:solidFill>
                <a:latin typeface="Franklin Gothic Demi" panose="020B0703020102020204" pitchFamily="34" charset="0"/>
              </a:rPr>
              <a:t>Thank you Questions If any.</a:t>
            </a: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1126</Words>
  <Application>Microsoft Office PowerPoint</Application>
  <PresentationFormat>On-screen Show (4:3)</PresentationFormat>
  <Paragraphs>157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Calibri</vt:lpstr>
      <vt:lpstr>Franklin Gothic Book</vt:lpstr>
      <vt:lpstr>Franklin Gothic Demi</vt:lpstr>
      <vt:lpstr>Perpetua</vt:lpstr>
      <vt:lpstr>Times New Roman</vt:lpstr>
      <vt:lpstr>Wingdings</vt:lpstr>
      <vt:lpstr>Wingdings 2</vt:lpstr>
      <vt:lpstr>Equity</vt:lpstr>
      <vt:lpstr>PowerPoint Presentation</vt:lpstr>
      <vt:lpstr>Outlines</vt:lpstr>
      <vt:lpstr>Introduction</vt:lpstr>
      <vt:lpstr>Literature Review/Survey</vt:lpstr>
      <vt:lpstr>Research Gap &amp; Motivation </vt:lpstr>
      <vt:lpstr>Research Objectives</vt:lpstr>
      <vt:lpstr>Research Methodology/Data Collection</vt:lpstr>
      <vt:lpstr>Software and Hardware Requirements </vt:lpstr>
      <vt:lpstr>Software and Hardware Requirements </vt:lpstr>
      <vt:lpstr>Expected Outcomes/Results/Findings</vt:lpstr>
      <vt:lpstr> Societal Impact</vt:lpstr>
      <vt:lpstr> Research Timeline</vt:lpstr>
      <vt:lpstr> Conclusion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SYSTEMATIC ANALYSIS OF SOFTWARE COST  ESTIMATION TECHNIQUES</dc:title>
  <dc:creator>om</dc:creator>
  <cp:lastModifiedBy>aman dadsena</cp:lastModifiedBy>
  <cp:revision>92</cp:revision>
  <dcterms:created xsi:type="dcterms:W3CDTF">2020-06-20T22:37:00Z</dcterms:created>
  <dcterms:modified xsi:type="dcterms:W3CDTF">2026-08-06T14:43:46Z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EE21529C30264EF3AFF63C0E8D5E4463_12</vt:lpwstr>
  </property>
</Properties>
</file>